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84" r:id="rId1"/>
  </p:sldMasterIdLst>
  <p:notesMasterIdLst>
    <p:notesMasterId r:id="rId11"/>
  </p:notesMasterIdLst>
  <p:handoutMasterIdLst>
    <p:handoutMasterId r:id="rId12"/>
  </p:handoutMasterIdLst>
  <p:sldIdLst>
    <p:sldId id="948" r:id="rId2"/>
    <p:sldId id="939" r:id="rId3"/>
    <p:sldId id="940" r:id="rId4"/>
    <p:sldId id="941" r:id="rId5"/>
    <p:sldId id="943" r:id="rId6"/>
    <p:sldId id="944" r:id="rId7"/>
    <p:sldId id="946" r:id="rId8"/>
    <p:sldId id="949" r:id="rId9"/>
    <p:sldId id="947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9" userDrawn="1">
          <p15:clr>
            <a:srgbClr val="A4A3A4"/>
          </p15:clr>
        </p15:guide>
        <p15:guide id="2" pos="29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2D1"/>
    <a:srgbClr val="595959"/>
    <a:srgbClr val="4F80BD"/>
    <a:srgbClr val="385D8A"/>
    <a:srgbClr val="4DD60C"/>
    <a:srgbClr val="3669AB"/>
    <a:srgbClr val="E8AC6C"/>
    <a:srgbClr val="E9B56C"/>
    <a:srgbClr val="E8DA6D"/>
    <a:srgbClr val="F6D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50454" autoAdjust="0"/>
  </p:normalViewPr>
  <p:slideViewPr>
    <p:cSldViewPr>
      <p:cViewPr varScale="1">
        <p:scale>
          <a:sx n="116" d="100"/>
          <a:sy n="116" d="100"/>
        </p:scale>
        <p:origin x="634" y="86"/>
      </p:cViewPr>
      <p:guideLst>
        <p:guide orient="horz" pos="1529"/>
        <p:guide pos="29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304"/>
    </p:cViewPr>
  </p:sorter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C15A4A2-153A-47D3-AEC7-1FA0F738486A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fld id="{5099878B-CE59-4DCE-8D47-58D3D2C0FCF0}" type="datetimeFigureOut">
              <a:rPr lang="zh-TW" altLang="en-US"/>
              <a:t>2026/2/24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5D31310-7B6E-4565-B59D-2071907BA966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082" kern="1200">
        <a:solidFill>
          <a:schemeClr val="tx1"/>
        </a:solidFill>
        <a:latin typeface="+mn-lt"/>
        <a:ea typeface="+mn-ea"/>
        <a:cs typeface="+mn-cs"/>
      </a:defRPr>
    </a:lvl1pPr>
    <a:lvl2pPr marL="412303" algn="l" rtl="0" eaLnBrk="0" fontAlgn="base" hangingPunct="0">
      <a:spcBef>
        <a:spcPct val="30000"/>
      </a:spcBef>
      <a:spcAft>
        <a:spcPct val="0"/>
      </a:spcAft>
      <a:defRPr sz="1082" kern="1200">
        <a:solidFill>
          <a:schemeClr val="tx1"/>
        </a:solidFill>
        <a:latin typeface="+mn-lt"/>
        <a:ea typeface="+mn-ea"/>
        <a:cs typeface="+mn-cs"/>
      </a:defRPr>
    </a:lvl2pPr>
    <a:lvl3pPr marL="824606" algn="l" rtl="0" eaLnBrk="0" fontAlgn="base" hangingPunct="0">
      <a:spcBef>
        <a:spcPct val="30000"/>
      </a:spcBef>
      <a:spcAft>
        <a:spcPct val="0"/>
      </a:spcAft>
      <a:defRPr sz="1082" kern="1200">
        <a:solidFill>
          <a:schemeClr val="tx1"/>
        </a:solidFill>
        <a:latin typeface="+mn-lt"/>
        <a:ea typeface="+mn-ea"/>
        <a:cs typeface="+mn-cs"/>
      </a:defRPr>
    </a:lvl3pPr>
    <a:lvl4pPr marL="1236909" algn="l" rtl="0" eaLnBrk="0" fontAlgn="base" hangingPunct="0">
      <a:spcBef>
        <a:spcPct val="30000"/>
      </a:spcBef>
      <a:spcAft>
        <a:spcPct val="0"/>
      </a:spcAft>
      <a:defRPr sz="1082" kern="1200">
        <a:solidFill>
          <a:schemeClr val="tx1"/>
        </a:solidFill>
        <a:latin typeface="+mn-lt"/>
        <a:ea typeface="+mn-ea"/>
        <a:cs typeface="+mn-cs"/>
      </a:defRPr>
    </a:lvl4pPr>
    <a:lvl5pPr marL="1649212" algn="l" rtl="0" eaLnBrk="0" fontAlgn="base" hangingPunct="0">
      <a:spcBef>
        <a:spcPct val="30000"/>
      </a:spcBef>
      <a:spcAft>
        <a:spcPct val="0"/>
      </a:spcAft>
      <a:defRPr sz="1082" kern="1200">
        <a:solidFill>
          <a:schemeClr val="tx1"/>
        </a:solidFill>
        <a:latin typeface="+mn-lt"/>
        <a:ea typeface="+mn-ea"/>
        <a:cs typeface="+mn-cs"/>
      </a:defRPr>
    </a:lvl5pPr>
    <a:lvl6pPr marL="2061515" algn="l" defTabSz="824606" rtl="0" eaLnBrk="1" latinLnBrk="0" hangingPunct="1">
      <a:defRPr sz="1082" kern="1200">
        <a:solidFill>
          <a:schemeClr val="tx1"/>
        </a:solidFill>
        <a:latin typeface="+mn-lt"/>
        <a:ea typeface="+mn-ea"/>
        <a:cs typeface="+mn-cs"/>
      </a:defRPr>
    </a:lvl6pPr>
    <a:lvl7pPr marL="2473818" algn="l" defTabSz="824606" rtl="0" eaLnBrk="1" latinLnBrk="0" hangingPunct="1">
      <a:defRPr sz="1082" kern="1200">
        <a:solidFill>
          <a:schemeClr val="tx1"/>
        </a:solidFill>
        <a:latin typeface="+mn-lt"/>
        <a:ea typeface="+mn-ea"/>
        <a:cs typeface="+mn-cs"/>
      </a:defRPr>
    </a:lvl7pPr>
    <a:lvl8pPr marL="2886121" algn="l" defTabSz="824606" rtl="0" eaLnBrk="1" latinLnBrk="0" hangingPunct="1">
      <a:defRPr sz="1082" kern="1200">
        <a:solidFill>
          <a:schemeClr val="tx1"/>
        </a:solidFill>
        <a:latin typeface="+mn-lt"/>
        <a:ea typeface="+mn-ea"/>
        <a:cs typeface="+mn-cs"/>
      </a:defRPr>
    </a:lvl8pPr>
    <a:lvl9pPr marL="3298424" algn="l" defTabSz="824606" rtl="0" eaLnBrk="1" latinLnBrk="0" hangingPunct="1">
      <a:defRPr sz="10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085fc4fa64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085fc4fa64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1085fc4fa64_2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0182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028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22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878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224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2646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1720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388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D31310-7B6E-4565-B59D-2071907BA966}" type="slidenum">
              <a:rPr lang="zh-TW" altLang="en-US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66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505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圖片 1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" y="0"/>
            <a:ext cx="913802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2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7159"/>
            <a:ext cx="9144000" cy="2715767"/>
            <a:chOff x="-4842" y="-127710"/>
            <a:chExt cx="9144000" cy="2715767"/>
          </a:xfrm>
        </p:grpSpPr>
        <p:pic>
          <p:nvPicPr>
            <p:cNvPr id="219" name="Google Shape;219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842" y="-127710"/>
              <a:ext cx="9144000" cy="2715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39"/>
            <p:cNvSpPr txBox="1"/>
            <p:nvPr/>
          </p:nvSpPr>
          <p:spPr>
            <a:xfrm>
              <a:off x="52228" y="152191"/>
              <a:ext cx="2503548" cy="343261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3200"/>
                <a:buFont typeface="Calibri"/>
                <a:buNone/>
              </a:pPr>
              <a:r>
                <a:rPr lang="zh-TW" sz="320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PEGATRON</a:t>
              </a:r>
              <a:endParaRPr sz="3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39"/>
            <p:cNvSpPr txBox="1"/>
            <p:nvPr/>
          </p:nvSpPr>
          <p:spPr>
            <a:xfrm>
              <a:off x="204194" y="455488"/>
              <a:ext cx="2503548" cy="343261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600"/>
                <a:buFont typeface="Calibri"/>
                <a:buNone/>
              </a:pPr>
              <a:r>
                <a:rPr lang="zh-TW" sz="1600" b="1" i="0" u="none" strike="noStrike" cap="non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Navigate the future</a:t>
              </a:r>
              <a:endParaRPr sz="16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6D0CAD9-67BE-383E-2DBE-8EA4B47AA52F}"/>
              </a:ext>
            </a:extLst>
          </p:cNvPr>
          <p:cNvSpPr/>
          <p:nvPr/>
        </p:nvSpPr>
        <p:spPr>
          <a:xfrm>
            <a:off x="3277227" y="4160542"/>
            <a:ext cx="2329903" cy="332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1763688" y="2867958"/>
            <a:ext cx="4608512" cy="58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7643" tIns="43822" rIns="87643" bIns="43822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algn="r" eaLnBrk="1" hangingPunct="1"/>
            <a:r>
              <a:rPr kumimoji="0" lang="en-US" altLang="zh-TW" sz="3200" b="1">
                <a:ea typeface="Microsoft JhengHei" panose="020B0604030504040204" pitchFamily="34" charset="-120"/>
                <a:cs typeface="Calibri" panose="020F0502020204030204" pitchFamily="34" charset="0"/>
              </a:rPr>
              <a:t>QUARTER </a:t>
            </a:r>
            <a:r>
              <a:rPr kumimoji="0" lang="en-US" altLang="zh-TW" sz="3200" b="1" smtClean="0">
                <a:ea typeface="Microsoft JhengHei" panose="020B0604030504040204" pitchFamily="34" charset="-120"/>
                <a:cs typeface="Calibri" panose="020F0502020204030204" pitchFamily="34" charset="0"/>
              </a:rPr>
              <a:t>REPORT</a:t>
            </a:r>
            <a:r>
              <a:rPr kumimoji="0" lang="en-US" altLang="zh-TW" sz="2000" smtClean="0"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kumimoji="0" lang="vi-VN" altLang="zh-TW" sz="2000" smtClean="0">
                <a:ea typeface="Microsoft JhengHei" panose="020B0604030504040204" pitchFamily="34" charset="-120"/>
                <a:cs typeface="Calibri" panose="020F0502020204030204" pitchFamily="34" charset="0"/>
              </a:rPr>
              <a:t>Q1-2026</a:t>
            </a:r>
            <a:r>
              <a:rPr kumimoji="0" lang="en-US" altLang="zh-TW" sz="2000"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204194" y="3600741"/>
            <a:ext cx="8892480" cy="73329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algn="l"/>
            <a:r>
              <a:rPr lang="en-US" sz="1500" b="1" smtClean="0">
                <a:latin typeface="+mn-lt"/>
              </a:rPr>
              <a:t>Topic : </a:t>
            </a:r>
            <a:r>
              <a:rPr lang="en-US" sz="2000" smtClean="0">
                <a:solidFill>
                  <a:srgbClr val="FF0000"/>
                </a:solidFill>
                <a:latin typeface="+mn-lt"/>
              </a:rPr>
              <a:t>Automated Control Of Sonic XL 3D Printer</a:t>
            </a:r>
            <a:r>
              <a:rPr lang="vi-VN" sz="2000">
                <a:solidFill>
                  <a:srgbClr val="FF0000"/>
                </a:solidFill>
                <a:latin typeface="+mn-lt"/>
              </a:rPr>
              <a:t> (Lan-IP-via Phrozen OS </a:t>
            </a:r>
            <a:r>
              <a:rPr lang="vi-VN" sz="2000" smtClean="0">
                <a:solidFill>
                  <a:srgbClr val="FF0000"/>
                </a:solidFill>
                <a:latin typeface="+mn-lt"/>
              </a:rPr>
              <a:t>Interface</a:t>
            </a:r>
            <a:r>
              <a:rPr lang="vi-VN" sz="2000">
                <a:solidFill>
                  <a:srgbClr val="FF0000"/>
                </a:solidFill>
                <a:latin typeface="+mn-lt"/>
              </a:rPr>
              <a:t>)</a:t>
            </a:r>
            <a:endParaRPr lang="en-US" sz="2000" smtClean="0">
              <a:solidFill>
                <a:srgbClr val="FF0000"/>
              </a:solidFill>
              <a:latin typeface="+mn-lt"/>
            </a:endParaRPr>
          </a:p>
          <a:p>
            <a:pPr algn="l"/>
            <a:r>
              <a:rPr lang="en-US" sz="1500" b="1" smtClean="0">
                <a:latin typeface="+mn-lt"/>
              </a:rPr>
              <a:t>Reporter : </a:t>
            </a:r>
            <a:r>
              <a:rPr lang="en-US" sz="1500" smtClean="0">
                <a:latin typeface="+mn-lt"/>
              </a:rPr>
              <a:t>Dale_Luong</a:t>
            </a:r>
            <a:r>
              <a:rPr lang="vi-VN" sz="1500" smtClean="0">
                <a:latin typeface="+mn-lt"/>
              </a:rPr>
              <a:t> - </a:t>
            </a:r>
            <a:r>
              <a:rPr lang="fr-FR" sz="1500">
                <a:latin typeface="+mn-lt"/>
              </a:rPr>
              <a:t>BG6-BU6-Automation System Test R&amp;D Div.2-Production Technique Dept.5- Sec.1</a:t>
            </a:r>
            <a:endParaRPr lang="en-US" sz="15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178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altLang="zh-TW" sz="3697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1"/>
          <p:cNvSpPr txBox="1"/>
          <p:nvPr/>
        </p:nvSpPr>
        <p:spPr>
          <a:xfrm>
            <a:off x="487613" y="938125"/>
            <a:ext cx="51645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170" indent="-432170">
              <a:buFont typeface="+mj-lt"/>
              <a:buAutoNum type="arabicPeriod"/>
            </a:pP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Bối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cảnh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vấn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đề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2170" indent="-432170">
              <a:buFont typeface="+mj-lt"/>
              <a:buAutoNum type="arabicPeriod"/>
            </a:pP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Mục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t>cứu</a:t>
            </a:r>
            <a:r>
              <a:rPr lang="vi-VN" sz="1400" smtClean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Kiến trúc 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hệ </a:t>
            </a:r>
            <a:r>
              <a:rPr 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en-US" altLang="en-US" sz="1400" b="1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2170" indent="-432170">
              <a:buFont typeface="+mj-lt"/>
              <a:buAutoNum type="arabicPeriod"/>
            </a:pPr>
            <a:r>
              <a:rPr 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t>Quy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trình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tế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2170" indent="-432170">
              <a:buFont typeface="+mj-lt"/>
              <a:buAutoNum type="arabicPeriod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Web Interface –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mạnh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2170" indent="-432170">
              <a:buFont typeface="+mj-lt"/>
              <a:buAutoNum type="arabicPeriod"/>
            </a:pP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Sự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cố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kinh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nghiệm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err="1">
                <a:latin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t>tế</a:t>
            </a:r>
            <a:endParaRPr lang="vi-VN" sz="140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2170" indent="-432170">
              <a:buFont typeface="+mj-lt"/>
              <a:buAutoNum type="arabicPeriod"/>
            </a:pPr>
            <a:r>
              <a:rPr lang="vi-VN" sz="1400"/>
              <a:t>Sử dụng phần mềm MultiTest điều khiển </a:t>
            </a:r>
            <a:r>
              <a:rPr lang="vi-VN" sz="1400"/>
              <a:t>máy </a:t>
            </a:r>
            <a:r>
              <a:rPr lang="vi-VN" sz="1400" smtClean="0"/>
              <a:t>in</a:t>
            </a:r>
          </a:p>
          <a:p>
            <a:pPr marL="432170" indent="-432170">
              <a:buFont typeface="+mj-lt"/>
              <a:buAutoNum type="arabicPeriod"/>
            </a:pPr>
            <a:r>
              <a:rPr lang="vi-VN" sz="1400" smtClean="0"/>
              <a:t>Kết luận.</a:t>
            </a:r>
            <a:endParaRPr 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843558"/>
            <a:ext cx="2691990" cy="336297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72200" y="4299942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000" smtClean="0">
                <a:latin typeface="Calibri" panose="020F0502020204030204" pitchFamily="34" charset="0"/>
                <a:cs typeface="Calibri" panose="020F0502020204030204" pitchFamily="34" charset="0"/>
              </a:rPr>
              <a:t>Hình ảnh thực tế máy in tại dự án One</a:t>
            </a:r>
            <a:endParaRPr 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45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611560" y="2407068"/>
            <a:ext cx="7606404" cy="1502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vi-VN" sz="1200"/>
          </a:p>
          <a:p>
            <a:r>
              <a:rPr lang="vi-VN" altLang="zh-CN" sz="1200"/>
              <a:t>Toàn bộ thao tác bằng thủ công , thao tác cắm USB vào máy in khó khăn do vị trí cắm ở đằng sau máy. Khi cắm có thể sẽ gây di chuyển máy in cần phải hiệu chỉnh lại máy in để đảm bảo chất lượng.</a:t>
            </a:r>
          </a:p>
          <a:p>
            <a:r>
              <a:rPr lang="vi-VN" altLang="zh-CN" sz="1200"/>
              <a:t>Quy trình thực hiện offline lên không thể kiểm mã ISN và SNA có matching với nhau không </a:t>
            </a:r>
            <a:r>
              <a:rPr lang="vi-VN" altLang="zh-CN" sz="1200" smtClean="0"/>
              <a:t>?</a:t>
            </a:r>
            <a:endParaRPr lang="en-US" altLang="zh-CN" sz="1200" smtClean="0"/>
          </a:p>
          <a:p>
            <a:r>
              <a:rPr lang="vi-VN" altLang="zh-CN" sz="1200" smtClean="0"/>
              <a:t>Tốn khá nhiều thời gian di chuyển từ máy tạo file .zip đến máy in. Có nguy cơ thấy lạc thẻ nhớ.</a:t>
            </a:r>
            <a:endParaRPr lang="vi-VN" altLang="zh-CN" sz="1200"/>
          </a:p>
          <a:p>
            <a:pPr marL="0" indent="0">
              <a:buNone/>
            </a:pPr>
            <a:r>
              <a:rPr lang="vi-VN" sz="1200" smtClean="0"/>
              <a:t>→</a:t>
            </a:r>
            <a:r>
              <a:rPr lang="en-US" sz="1200" smtClean="0"/>
              <a:t>	</a:t>
            </a:r>
            <a:r>
              <a:rPr lang="vi-VN" sz="1200" smtClean="0"/>
              <a:t>Cần </a:t>
            </a:r>
            <a:r>
              <a:rPr lang="vi-VN" sz="1200"/>
              <a:t>giải pháp điều khiển &amp; giám sát từ xa</a:t>
            </a:r>
          </a:p>
        </p:txBody>
      </p:sp>
      <p:sp>
        <p:nvSpPr>
          <p:cNvPr id="8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697" err="1">
                <a:solidFill>
                  <a:schemeClr val="tx1"/>
                </a:solidFill>
                <a:cs typeface="Times New Roman" panose="02020603050405020304" pitchFamily="18" charset="0"/>
              </a:rPr>
              <a:t>Bối</a:t>
            </a:r>
            <a:r>
              <a:rPr lang="en-US" sz="3697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sz="3697" err="1">
                <a:solidFill>
                  <a:schemeClr val="tx1"/>
                </a:solidFill>
                <a:cs typeface="Times New Roman" panose="02020603050405020304" pitchFamily="18" charset="0"/>
              </a:rPr>
              <a:t>cảnh</a:t>
            </a:r>
            <a:r>
              <a:rPr lang="en-US" sz="3697">
                <a:solidFill>
                  <a:schemeClr val="tx1"/>
                </a:solidFill>
                <a:cs typeface="Times New Roman" panose="02020603050405020304" pitchFamily="18" charset="0"/>
              </a:rPr>
              <a:t> &amp; </a:t>
            </a:r>
            <a:r>
              <a:rPr lang="en-US" sz="3697" err="1">
                <a:solidFill>
                  <a:schemeClr val="tx1"/>
                </a:solidFill>
                <a:cs typeface="Times New Roman" panose="02020603050405020304" pitchFamily="18" charset="0"/>
              </a:rPr>
              <a:t>vấn</a:t>
            </a:r>
            <a:r>
              <a:rPr lang="en-US" sz="3697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sz="3697" err="1">
                <a:solidFill>
                  <a:schemeClr val="tx1"/>
                </a:solidFill>
                <a:cs typeface="Times New Roman" panose="02020603050405020304" pitchFamily="18" charset="0"/>
              </a:rPr>
              <a:t>đề</a:t>
            </a:r>
            <a:endParaRPr lang="en-US" sz="3697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06432" y="1341393"/>
            <a:ext cx="810090" cy="508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/>
              <a:t>Coppy file cần in vào USB  từ máy tính trạm</a:t>
            </a:r>
            <a:endParaRPr lang="en-US" sz="825"/>
          </a:p>
        </p:txBody>
      </p:sp>
      <p:sp>
        <p:nvSpPr>
          <p:cNvPr id="10" name="Rectangle 9"/>
          <p:cNvSpPr/>
          <p:nvPr/>
        </p:nvSpPr>
        <p:spPr>
          <a:xfrm>
            <a:off x="2382546" y="1341393"/>
            <a:ext cx="810090" cy="508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/>
              <a:t>Di chuyển đến máy in cắm USB</a:t>
            </a:r>
            <a:endParaRPr lang="en-US" sz="825"/>
          </a:p>
        </p:txBody>
      </p:sp>
      <p:sp>
        <p:nvSpPr>
          <p:cNvPr id="11" name="Rectangle 10"/>
          <p:cNvSpPr/>
          <p:nvPr/>
        </p:nvSpPr>
        <p:spPr>
          <a:xfrm>
            <a:off x="3458660" y="1341393"/>
            <a:ext cx="810090" cy="508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/>
              <a:t>Chọn file trong USB bằng thao tác touch panel </a:t>
            </a:r>
            <a:endParaRPr lang="en-US" sz="825"/>
          </a:p>
        </p:txBody>
      </p:sp>
      <p:sp>
        <p:nvSpPr>
          <p:cNvPr id="12" name="Rectangle 11"/>
          <p:cNvSpPr/>
          <p:nvPr/>
        </p:nvSpPr>
        <p:spPr>
          <a:xfrm>
            <a:off x="4525084" y="1341393"/>
            <a:ext cx="810090" cy="508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/>
              <a:t>Xác nhận file và ấn xác nhận in</a:t>
            </a:r>
            <a:endParaRPr lang="en-US" sz="825"/>
          </a:p>
        </p:txBody>
      </p:sp>
      <p:sp>
        <p:nvSpPr>
          <p:cNvPr id="3" name="Rounded Rectangle 2"/>
          <p:cNvSpPr/>
          <p:nvPr/>
        </p:nvSpPr>
        <p:spPr>
          <a:xfrm>
            <a:off x="1244414" y="1237162"/>
            <a:ext cx="1026114" cy="7020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39752" y="1237162"/>
            <a:ext cx="3117130" cy="7020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23368" y="769334"/>
            <a:ext cx="3574319" cy="3429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200"/>
              <a:t>Quy trình thực hiện in thủ công </a:t>
            </a:r>
            <a:r>
              <a:rPr lang="vi-VN" sz="1200" smtClean="0"/>
              <a:t>:</a:t>
            </a:r>
            <a:endParaRPr lang="vi-VN" sz="1200"/>
          </a:p>
        </p:txBody>
      </p:sp>
      <p:sp>
        <p:nvSpPr>
          <p:cNvPr id="4" name="TextBox 3"/>
          <p:cNvSpPr txBox="1"/>
          <p:nvPr/>
        </p:nvSpPr>
        <p:spPr>
          <a:xfrm>
            <a:off x="1225020" y="1907119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/>
              <a:t>Station maker file print</a:t>
            </a:r>
            <a:endParaRPr lang="en-US" sz="1000"/>
          </a:p>
        </p:txBody>
      </p:sp>
      <p:sp>
        <p:nvSpPr>
          <p:cNvPr id="13" name="TextBox 12"/>
          <p:cNvSpPr txBox="1"/>
          <p:nvPr/>
        </p:nvSpPr>
        <p:spPr>
          <a:xfrm>
            <a:off x="3096610" y="1939240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/>
              <a:t>Print machine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3288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95656" y="952668"/>
            <a:ext cx="5974985" cy="1509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err="1"/>
              <a:t>Nghiên</a:t>
            </a:r>
            <a:r>
              <a:rPr lang="en-US" sz="1200"/>
              <a:t> </a:t>
            </a:r>
            <a:r>
              <a:rPr lang="en-US" sz="1200" err="1"/>
              <a:t>cứu</a:t>
            </a:r>
            <a:r>
              <a:rPr lang="en-US" sz="1200"/>
              <a:t> </a:t>
            </a:r>
            <a:r>
              <a:rPr lang="en-US" sz="1200" err="1"/>
              <a:t>tài</a:t>
            </a:r>
            <a:r>
              <a:rPr lang="en-US" sz="1200"/>
              <a:t> </a:t>
            </a:r>
            <a:r>
              <a:rPr lang="en-US" sz="1200" err="1"/>
              <a:t>liệu</a:t>
            </a:r>
            <a:r>
              <a:rPr lang="en-US" sz="1200"/>
              <a:t> </a:t>
            </a:r>
            <a:r>
              <a:rPr lang="en-US" sz="1200" err="1"/>
              <a:t>hãng</a:t>
            </a:r>
            <a:r>
              <a:rPr lang="en-US" sz="1200"/>
              <a:t> Sonic XL 4K</a:t>
            </a:r>
          </a:p>
          <a:p>
            <a:pPr>
              <a:buFontTx/>
              <a:buChar char="-"/>
            </a:pPr>
            <a:r>
              <a:rPr lang="vi-VN" sz="1200"/>
              <a:t>Tìm hiểu các cách kết nối và điều khiển máy in </a:t>
            </a:r>
          </a:p>
          <a:p>
            <a:pPr>
              <a:buFontTx/>
              <a:buChar char="-"/>
            </a:pPr>
            <a:r>
              <a:rPr lang="en-US" sz="1200" err="1"/>
              <a:t>Khai</a:t>
            </a:r>
            <a:r>
              <a:rPr lang="en-US" sz="1200"/>
              <a:t> </a:t>
            </a:r>
            <a:r>
              <a:rPr lang="en-US" sz="1200" err="1"/>
              <a:t>thác</a:t>
            </a:r>
            <a:r>
              <a:rPr lang="en-US" sz="1200"/>
              <a:t> </a:t>
            </a:r>
            <a:r>
              <a:rPr lang="en-US" sz="1200" err="1"/>
              <a:t>khả</a:t>
            </a:r>
            <a:r>
              <a:rPr lang="en-US" sz="1200"/>
              <a:t> </a:t>
            </a:r>
            <a:r>
              <a:rPr lang="en-US" sz="1200" err="1"/>
              <a:t>năng</a:t>
            </a:r>
            <a:r>
              <a:rPr lang="en-US" sz="1200"/>
              <a:t> </a:t>
            </a:r>
            <a:r>
              <a:rPr lang="en-US" sz="1200" err="1"/>
              <a:t>điều</a:t>
            </a:r>
            <a:r>
              <a:rPr lang="en-US" sz="1200"/>
              <a:t> </a:t>
            </a:r>
            <a:r>
              <a:rPr lang="en-US" sz="1200" err="1"/>
              <a:t>khiển</a:t>
            </a:r>
            <a:r>
              <a:rPr lang="en-US" sz="1200"/>
              <a:t> qua </a:t>
            </a:r>
            <a:r>
              <a:rPr lang="en-US" sz="1200" err="1"/>
              <a:t>mạng</a:t>
            </a:r>
            <a:r>
              <a:rPr lang="en-US" sz="1200"/>
              <a:t> </a:t>
            </a:r>
            <a:r>
              <a:rPr lang="vi-VN" sz="1200"/>
              <a:t>LAN.</a:t>
            </a:r>
          </a:p>
          <a:p>
            <a:pPr>
              <a:buFontTx/>
              <a:buChar char="-"/>
            </a:pPr>
            <a:r>
              <a:rPr lang="en-US" sz="1200" err="1"/>
              <a:t>Ứng</a:t>
            </a:r>
            <a:r>
              <a:rPr lang="en-US" sz="1200"/>
              <a:t> </a:t>
            </a:r>
            <a:r>
              <a:rPr lang="en-US" sz="1200" err="1"/>
              <a:t>dụng</a:t>
            </a:r>
            <a:r>
              <a:rPr lang="en-US" sz="1200"/>
              <a:t> Web UI </a:t>
            </a:r>
            <a:r>
              <a:rPr lang="en-US" sz="1200" err="1"/>
              <a:t>trong</a:t>
            </a:r>
            <a:r>
              <a:rPr lang="en-US" sz="1200"/>
              <a:t> </a:t>
            </a:r>
            <a:r>
              <a:rPr lang="en-US" sz="1200" err="1"/>
              <a:t>vận</a:t>
            </a:r>
            <a:r>
              <a:rPr lang="en-US" sz="1200"/>
              <a:t> </a:t>
            </a:r>
            <a:r>
              <a:rPr lang="en-US" sz="1200" err="1"/>
              <a:t>hành</a:t>
            </a:r>
            <a:r>
              <a:rPr lang="en-US" sz="1200"/>
              <a:t> </a:t>
            </a:r>
            <a:r>
              <a:rPr lang="en-US" sz="1200" err="1"/>
              <a:t>thực</a:t>
            </a:r>
            <a:r>
              <a:rPr lang="en-US" sz="1200"/>
              <a:t> </a:t>
            </a:r>
            <a:r>
              <a:rPr lang="vi-VN" sz="1200"/>
              <a:t>tế.</a:t>
            </a:r>
            <a:endParaRPr lang="en-US" sz="1200"/>
          </a:p>
          <a:p>
            <a:pPr marL="0" indent="0">
              <a:buNone/>
            </a:pPr>
            <a:r>
              <a:rPr lang="vi-VN" sz="1200" smtClean="0"/>
              <a:t>Vận </a:t>
            </a:r>
            <a:r>
              <a:rPr lang="vi-VN" sz="1200"/>
              <a:t>dụng kiến thức về truyền thông công nghiệp để đưa ra phương pháp kết nối tối ưu nhất</a:t>
            </a:r>
            <a:r>
              <a:rPr lang="vi-VN" sz="1200" smtClean="0"/>
              <a:t>.</a:t>
            </a:r>
            <a:endParaRPr lang="vi-VN" sz="1200"/>
          </a:p>
        </p:txBody>
      </p:sp>
      <p:sp>
        <p:nvSpPr>
          <p:cNvPr id="8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800" err="1">
                <a:solidFill>
                  <a:schemeClr val="tx1"/>
                </a:solidFill>
              </a:rPr>
              <a:t>Mục</a:t>
            </a: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err="1">
                <a:solidFill>
                  <a:schemeClr val="tx1"/>
                </a:solidFill>
              </a:rPr>
              <a:t>tiêu</a:t>
            </a: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err="1">
                <a:solidFill>
                  <a:schemeClr val="tx1"/>
                </a:solidFill>
              </a:rPr>
              <a:t>nghiên</a:t>
            </a: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</a:rPr>
              <a:t>cứu &amp; Kiến trúc </a:t>
            </a:r>
            <a:r>
              <a:rPr lang="en-US" sz="2800">
                <a:solidFill>
                  <a:schemeClr val="tx1"/>
                </a:solidFill>
              </a:rPr>
              <a:t>hệ </a:t>
            </a:r>
            <a:r>
              <a:rPr lang="en-US" sz="2800" smtClean="0">
                <a:solidFill>
                  <a:schemeClr val="tx1"/>
                </a:solidFill>
              </a:rPr>
              <a:t>thống</a:t>
            </a:r>
            <a:r>
              <a:rPr lang="en-US" sz="2800" smtClean="0">
                <a:solidFill>
                  <a:schemeClr val="tx1"/>
                </a:solidFill>
              </a:rPr>
              <a:t> 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5759" y="2634310"/>
            <a:ext cx="5978409" cy="19732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PC / Laptop</a:t>
            </a:r>
          </a:p>
          <a:p>
            <a:pPr marL="0" indent="0">
              <a:buNone/>
            </a:pPr>
            <a:r>
              <a:rPr lang="en-US" sz="1200"/>
              <a:t>→ Router WiFi</a:t>
            </a:r>
            <a:r>
              <a:rPr lang="vi-VN" sz="1200"/>
              <a:t> (sử dụng để có thể kết nối được với </a:t>
            </a:r>
            <a:r>
              <a:rPr lang="vi-VN" sz="1200" smtClean="0"/>
              <a:t>IP </a:t>
            </a:r>
            <a:r>
              <a:rPr lang="vi-VN" sz="1200"/>
              <a:t>tĩnh của máy in)</a:t>
            </a:r>
            <a:endParaRPr lang="en-US" sz="1200"/>
          </a:p>
          <a:p>
            <a:pPr marL="0" indent="0">
              <a:buNone/>
            </a:pPr>
            <a:r>
              <a:rPr lang="en-US" sz="1200"/>
              <a:t>→ </a:t>
            </a:r>
            <a:r>
              <a:rPr lang="en-US" sz="1200" err="1"/>
              <a:t>Mạng</a:t>
            </a:r>
            <a:r>
              <a:rPr lang="en-US" sz="1200"/>
              <a:t> LAN </a:t>
            </a:r>
            <a:r>
              <a:rPr lang="en-US" sz="1200" err="1"/>
              <a:t>nội</a:t>
            </a:r>
            <a:r>
              <a:rPr lang="en-US" sz="1200"/>
              <a:t> bộ</a:t>
            </a:r>
            <a:r>
              <a:rPr lang="vi-VN" sz="1200"/>
              <a:t> (setting cùng dải mạng)</a:t>
            </a:r>
            <a:endParaRPr lang="en-US" sz="1200"/>
          </a:p>
          <a:p>
            <a:pPr marL="0" indent="0">
              <a:buNone/>
            </a:pPr>
            <a:r>
              <a:rPr lang="en-US" sz="1200"/>
              <a:t>→ </a:t>
            </a:r>
            <a:r>
              <a:rPr lang="en-US" sz="1200" err="1"/>
              <a:t>Máy</a:t>
            </a:r>
            <a:r>
              <a:rPr lang="en-US" sz="1200"/>
              <a:t> in 3D (IP </a:t>
            </a:r>
            <a:r>
              <a:rPr lang="en-US" sz="1200" err="1"/>
              <a:t>cố</a:t>
            </a:r>
            <a:r>
              <a:rPr lang="en-US" sz="1200"/>
              <a:t> </a:t>
            </a:r>
            <a:r>
              <a:rPr lang="en-US" sz="1200" err="1"/>
              <a:t>định</a:t>
            </a:r>
            <a:r>
              <a:rPr lang="en-US" sz="1200"/>
              <a:t>)</a:t>
            </a:r>
          </a:p>
          <a:p>
            <a:r>
              <a:rPr lang="en-US" sz="1200" err="1"/>
              <a:t>Điều</a:t>
            </a:r>
            <a:r>
              <a:rPr lang="en-US" sz="1200"/>
              <a:t> </a:t>
            </a:r>
            <a:r>
              <a:rPr lang="en-US" sz="1200" err="1"/>
              <a:t>khiển</a:t>
            </a:r>
            <a:r>
              <a:rPr lang="en-US" sz="1200"/>
              <a:t> </a:t>
            </a:r>
            <a:r>
              <a:rPr lang="en-US" sz="1200" err="1"/>
              <a:t>bằng</a:t>
            </a:r>
            <a:r>
              <a:rPr lang="en-US" sz="1200"/>
              <a:t> Google Chrome</a:t>
            </a:r>
            <a:r>
              <a:rPr lang="vi-VN" sz="1200"/>
              <a:t> (có thể control </a:t>
            </a:r>
            <a:r>
              <a:rPr lang="vi-VN" sz="1200" smtClean="0"/>
              <a:t>thao</a:t>
            </a:r>
            <a:r>
              <a:rPr lang="en-US" sz="1200" smtClean="0"/>
              <a:t> </a:t>
            </a:r>
            <a:r>
              <a:rPr lang="vi-VN" sz="1200" smtClean="0"/>
              <a:t>tác </a:t>
            </a:r>
            <a:r>
              <a:rPr lang="vi-VN" sz="1200"/>
              <a:t>bằng Selenium được tối ưu hơn).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56176" y="702630"/>
            <a:ext cx="2830414" cy="1944506"/>
            <a:chOff x="6888088" y="1214175"/>
            <a:chExt cx="4473328" cy="3442057"/>
          </a:xfrm>
        </p:grpSpPr>
        <p:sp>
          <p:nvSpPr>
            <p:cNvPr id="7" name="Rectangle 6"/>
            <p:cNvSpPr/>
            <p:nvPr/>
          </p:nvSpPr>
          <p:spPr>
            <a:xfrm>
              <a:off x="8337080" y="1656778"/>
              <a:ext cx="1584176" cy="100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vi-VN" sz="900">
                  <a:solidFill>
                    <a:schemeClr val="tx1"/>
                  </a:solidFill>
                </a:rPr>
                <a:t>Router Wifi</a:t>
              </a:r>
              <a:endParaRPr lang="en-US" sz="90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88088" y="3107766"/>
              <a:ext cx="1584176" cy="100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vi-VN" sz="900">
                  <a:solidFill>
                    <a:schemeClr val="tx1"/>
                  </a:solidFill>
                </a:rPr>
                <a:t>Laptop/PC</a:t>
              </a:r>
              <a:endParaRPr lang="en-US" sz="90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678706" y="3107766"/>
              <a:ext cx="1584176" cy="100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vi-VN" sz="900">
                  <a:solidFill>
                    <a:schemeClr val="tx1"/>
                  </a:solidFill>
                </a:rPr>
                <a:t>Máy in 3D 1</a:t>
              </a:r>
              <a:endParaRPr lang="en-US" sz="90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7" idx="1"/>
              <a:endCxn id="9" idx="0"/>
            </p:cNvCxnSpPr>
            <p:nvPr/>
          </p:nvCxnSpPr>
          <p:spPr>
            <a:xfrm flipH="1">
              <a:off x="7680176" y="2160834"/>
              <a:ext cx="656904" cy="94693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3"/>
              <a:endCxn id="10" idx="0"/>
            </p:cNvCxnSpPr>
            <p:nvPr/>
          </p:nvCxnSpPr>
          <p:spPr>
            <a:xfrm>
              <a:off x="9921256" y="2160834"/>
              <a:ext cx="549538" cy="94693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8337079" y="1214175"/>
              <a:ext cx="1584177" cy="463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100"/>
                <a:t>192.168.50.xx</a:t>
              </a:r>
              <a:endParaRPr lang="en-US" sz="11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77239" y="4197681"/>
              <a:ext cx="1584177" cy="435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000"/>
                <a:t>192.168.50.147</a:t>
              </a:r>
              <a:endParaRPr lang="en-US"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88088" y="4193144"/>
              <a:ext cx="1584177" cy="463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100"/>
                <a:t>192.168.50.11</a:t>
              </a:r>
              <a:endParaRPr lang="en-US" sz="1100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873" y="2842106"/>
            <a:ext cx="2629765" cy="1375728"/>
          </a:xfrm>
          <a:prstGeom prst="rect">
            <a:avLst/>
          </a:prstGeom>
        </p:spPr>
      </p:pic>
      <p:sp>
        <p:nvSpPr>
          <p:cNvPr id="17" name="Text Box 10"/>
          <p:cNvSpPr txBox="1"/>
          <p:nvPr/>
        </p:nvSpPr>
        <p:spPr>
          <a:xfrm>
            <a:off x="95656" y="648867"/>
            <a:ext cx="6126182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altLang="en-US" sz="1200" b="1" smtClean="0"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Mục tiêu nghiên cứu</a:t>
            </a:r>
            <a:endParaRPr lang="vi-VN" altLang="en-US" sz="1200" b="1" dirty="0" smtClean="0">
              <a:ea typeface="SimSun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Text Box 10"/>
          <p:cNvSpPr txBox="1"/>
          <p:nvPr/>
        </p:nvSpPr>
        <p:spPr>
          <a:xfrm>
            <a:off x="71946" y="2337499"/>
            <a:ext cx="6126182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altLang="en-US" sz="1200" b="1" smtClean="0"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Kiến trúc hệ thống</a:t>
            </a:r>
            <a:endParaRPr lang="vi-VN" altLang="en-US" sz="1200" b="1" dirty="0" smtClean="0">
              <a:ea typeface="SimSun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789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305526" y="865868"/>
            <a:ext cx="7606404" cy="298405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" panose="020F0502020204030204" pitchFamily="34" charset="0"/>
              </a:rPr>
              <a:t>1. </a:t>
            </a:r>
            <a:r>
              <a:rPr lang="en-US" sz="1000" err="1">
                <a:cs typeface="Calibri" panose="020F0502020204030204" pitchFamily="34" charset="0"/>
              </a:rPr>
              <a:t>Truy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cập</a:t>
            </a:r>
            <a:r>
              <a:rPr lang="en-US" sz="1000">
                <a:cs typeface="Calibri" panose="020F0502020204030204" pitchFamily="34" charset="0"/>
              </a:rPr>
              <a:t> IP </a:t>
            </a:r>
            <a:r>
              <a:rPr lang="en-US" sz="1000" err="1">
                <a:cs typeface="Calibri" panose="020F0502020204030204" pitchFamily="34" charset="0"/>
              </a:rPr>
              <a:t>máy</a:t>
            </a:r>
            <a:r>
              <a:rPr lang="en-US" sz="1000">
                <a:cs typeface="Calibri" panose="020F0502020204030204" pitchFamily="34" charset="0"/>
              </a:rPr>
              <a:t> in</a:t>
            </a:r>
          </a:p>
          <a:p>
            <a:r>
              <a:rPr lang="en-US" sz="1000">
                <a:cs typeface="Calibri" panose="020F0502020204030204" pitchFamily="34" charset="0"/>
              </a:rPr>
              <a:t>2. Upload file in</a:t>
            </a:r>
          </a:p>
          <a:p>
            <a:r>
              <a:rPr lang="en-US" sz="1000">
                <a:cs typeface="Calibri" panose="020F0502020204030204" pitchFamily="34" charset="0"/>
              </a:rPr>
              <a:t>3. </a:t>
            </a:r>
            <a:r>
              <a:rPr lang="en-US" sz="1000" err="1">
                <a:cs typeface="Calibri" panose="020F0502020204030204" pitchFamily="34" charset="0"/>
              </a:rPr>
              <a:t>Kiểm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tra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trạng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thái</a:t>
            </a:r>
            <a:endParaRPr lang="en-US" sz="1000">
              <a:cs typeface="Calibri" panose="020F0502020204030204" pitchFamily="34" charset="0"/>
            </a:endParaRPr>
          </a:p>
          <a:p>
            <a:r>
              <a:rPr lang="en-US" sz="1000">
                <a:cs typeface="Calibri" panose="020F0502020204030204" pitchFamily="34" charset="0"/>
              </a:rPr>
              <a:t>4. </a:t>
            </a:r>
            <a:r>
              <a:rPr lang="en-US" sz="1000" err="1">
                <a:cs typeface="Calibri" panose="020F0502020204030204" pitchFamily="34" charset="0"/>
              </a:rPr>
              <a:t>Nhấn</a:t>
            </a:r>
            <a:r>
              <a:rPr lang="en-US" sz="1000">
                <a:cs typeface="Calibri" panose="020F0502020204030204" pitchFamily="34" charset="0"/>
              </a:rPr>
              <a:t> Print</a:t>
            </a:r>
          </a:p>
          <a:p>
            <a:r>
              <a:rPr lang="en-US" sz="1000">
                <a:cs typeface="Calibri" panose="020F0502020204030204" pitchFamily="34" charset="0"/>
              </a:rPr>
              <a:t>5. Theo </a:t>
            </a:r>
            <a:r>
              <a:rPr lang="en-US" sz="1000" err="1">
                <a:cs typeface="Calibri" panose="020F0502020204030204" pitchFamily="34" charset="0"/>
              </a:rPr>
              <a:t>dõi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tiến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trình</a:t>
            </a:r>
            <a:r>
              <a:rPr lang="en-US" sz="1000">
                <a:cs typeface="Calibri" panose="020F0502020204030204" pitchFamily="34" charset="0"/>
              </a:rPr>
              <a:t> </a:t>
            </a:r>
            <a:r>
              <a:rPr lang="en-US" sz="1000" err="1">
                <a:cs typeface="Calibri" panose="020F0502020204030204" pitchFamily="34" charset="0"/>
              </a:rPr>
              <a:t>trên</a:t>
            </a:r>
            <a:r>
              <a:rPr lang="en-US" sz="1000">
                <a:cs typeface="Calibri" panose="020F0502020204030204" pitchFamily="34" charset="0"/>
              </a:rPr>
              <a:t> Web UI</a:t>
            </a:r>
          </a:p>
        </p:txBody>
      </p:sp>
      <p:sp>
        <p:nvSpPr>
          <p:cNvPr id="8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697" err="1">
                <a:solidFill>
                  <a:schemeClr val="tx1"/>
                </a:solidFill>
              </a:rPr>
              <a:t>Quy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trình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điều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khiển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thực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tế</a:t>
            </a:r>
            <a:endParaRPr lang="en-US" sz="3697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90609" y="923973"/>
            <a:ext cx="82296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/>
              <a:t>Coppy file in lên ổ Disk chung : //10.120.108.251</a:t>
            </a:r>
            <a:endParaRPr lang="en-US" sz="825"/>
          </a:p>
        </p:txBody>
      </p:sp>
      <p:sp>
        <p:nvSpPr>
          <p:cNvPr id="10" name="Rectangle 9"/>
          <p:cNvSpPr/>
          <p:nvPr/>
        </p:nvSpPr>
        <p:spPr>
          <a:xfrm>
            <a:off x="4128740" y="923973"/>
            <a:ext cx="82296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 smtClean="0"/>
              <a:t>Truy cập server folder coppy file in về máy.</a:t>
            </a:r>
            <a:endParaRPr lang="en-US" sz="825"/>
          </a:p>
        </p:txBody>
      </p:sp>
      <p:sp>
        <p:nvSpPr>
          <p:cNvPr id="11" name="Rectangle 10"/>
          <p:cNvSpPr/>
          <p:nvPr/>
        </p:nvSpPr>
        <p:spPr>
          <a:xfrm>
            <a:off x="5108139" y="923974"/>
            <a:ext cx="878092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 smtClean="0"/>
              <a:t>Mở Google Chrome truy cập http://192.168.50.147/plates</a:t>
            </a:r>
            <a:endParaRPr lang="en-US" sz="825"/>
          </a:p>
        </p:txBody>
      </p:sp>
      <p:sp>
        <p:nvSpPr>
          <p:cNvPr id="12" name="Rectangle 11"/>
          <p:cNvSpPr/>
          <p:nvPr/>
        </p:nvSpPr>
        <p:spPr>
          <a:xfrm>
            <a:off x="6142670" y="923973"/>
            <a:ext cx="82296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 smtClean="0"/>
              <a:t>Ấn nút select file để chọn file in từ thư mục máy tính</a:t>
            </a:r>
            <a:endParaRPr lang="en-US" sz="825"/>
          </a:p>
        </p:txBody>
      </p:sp>
      <p:sp>
        <p:nvSpPr>
          <p:cNvPr id="13" name="Rounded Rectangle 12"/>
          <p:cNvSpPr/>
          <p:nvPr/>
        </p:nvSpPr>
        <p:spPr>
          <a:xfrm>
            <a:off x="2843808" y="819742"/>
            <a:ext cx="1172915" cy="7485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54721" y="819742"/>
            <a:ext cx="4995843" cy="7485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22069" y="923973"/>
            <a:ext cx="82296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 smtClean="0"/>
              <a:t>Ấn nút Upload sau đó ấn nút Print -&gt; Máy in sẽ thực hiện in</a:t>
            </a:r>
            <a:endParaRPr lang="en-US" sz="825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097474"/>
            <a:ext cx="2140607" cy="12040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561" y="2097474"/>
            <a:ext cx="2140607" cy="12040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843" y="2107061"/>
            <a:ext cx="2140607" cy="12040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958" y="2107061"/>
            <a:ext cx="2140607" cy="120409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59" y="3346867"/>
            <a:ext cx="2140607" cy="12040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940" y="3346867"/>
            <a:ext cx="2140607" cy="120409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234" y="3373227"/>
            <a:ext cx="2140607" cy="12040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101468" y="923972"/>
            <a:ext cx="82296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825" smtClean="0"/>
              <a:t>Theo dõi trạng thái in trên màn hình trình duyệt</a:t>
            </a:r>
            <a:endParaRPr lang="en-US" sz="825"/>
          </a:p>
        </p:txBody>
      </p:sp>
      <p:sp>
        <p:nvSpPr>
          <p:cNvPr id="22" name="TextBox 21"/>
          <p:cNvSpPr txBox="1"/>
          <p:nvPr/>
        </p:nvSpPr>
        <p:spPr>
          <a:xfrm>
            <a:off x="2936603" y="1594319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/>
              <a:t>Station maker file print</a:t>
            </a:r>
            <a:endParaRPr lang="en-US" sz="1000"/>
          </a:p>
        </p:txBody>
      </p:sp>
      <p:sp>
        <p:nvSpPr>
          <p:cNvPr id="23" name="TextBox 22"/>
          <p:cNvSpPr txBox="1"/>
          <p:nvPr/>
        </p:nvSpPr>
        <p:spPr>
          <a:xfrm>
            <a:off x="6013804" y="1647696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/>
              <a:t>Print machine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22421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915566"/>
            <a:ext cx="7606404" cy="1620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4"/>
              <a:t>Không </a:t>
            </a:r>
            <a:r>
              <a:rPr lang="en-US" sz="1664" err="1"/>
              <a:t>cần</a:t>
            </a:r>
            <a:r>
              <a:rPr lang="en-US" sz="1664"/>
              <a:t> </a:t>
            </a:r>
            <a:r>
              <a:rPr lang="en-US" sz="1664" err="1"/>
              <a:t>cài</a:t>
            </a:r>
            <a:r>
              <a:rPr lang="en-US" sz="1664"/>
              <a:t> </a:t>
            </a:r>
            <a:r>
              <a:rPr lang="en-US" sz="1664" err="1"/>
              <a:t>phần</a:t>
            </a:r>
            <a:r>
              <a:rPr lang="en-US" sz="1664"/>
              <a:t> </a:t>
            </a:r>
            <a:r>
              <a:rPr lang="en-US" sz="1664" err="1"/>
              <a:t>mềm</a:t>
            </a:r>
            <a:endParaRPr lang="en-US" sz="1664"/>
          </a:p>
          <a:p>
            <a:r>
              <a:rPr lang="en-US" sz="1664"/>
              <a:t>Điều </a:t>
            </a:r>
            <a:r>
              <a:rPr lang="en-US" sz="1664" err="1"/>
              <a:t>khiển</a:t>
            </a:r>
            <a:r>
              <a:rPr lang="en-US" sz="1664"/>
              <a:t> </a:t>
            </a:r>
            <a:r>
              <a:rPr lang="en-US" sz="1664" err="1"/>
              <a:t>độc</a:t>
            </a:r>
            <a:r>
              <a:rPr lang="en-US" sz="1664"/>
              <a:t> </a:t>
            </a:r>
            <a:r>
              <a:rPr lang="en-US" sz="1664" err="1"/>
              <a:t>lập</a:t>
            </a:r>
            <a:r>
              <a:rPr lang="en-US" sz="1664"/>
              <a:t> </a:t>
            </a:r>
            <a:r>
              <a:rPr lang="en-US" sz="1664" err="1"/>
              <a:t>hệ</a:t>
            </a:r>
            <a:r>
              <a:rPr lang="en-US" sz="1664"/>
              <a:t> </a:t>
            </a:r>
            <a:r>
              <a:rPr lang="en-US" sz="1664" err="1"/>
              <a:t>điều</a:t>
            </a:r>
            <a:r>
              <a:rPr lang="en-US" sz="1664"/>
              <a:t> </a:t>
            </a:r>
            <a:r>
              <a:rPr lang="en-US" sz="1664" err="1"/>
              <a:t>hành</a:t>
            </a:r>
            <a:endParaRPr lang="en-US" sz="1664"/>
          </a:p>
          <a:p>
            <a:r>
              <a:rPr lang="en-US" sz="1664"/>
              <a:t>Hiển </a:t>
            </a:r>
            <a:r>
              <a:rPr lang="en-US" sz="1664" err="1"/>
              <a:t>thị</a:t>
            </a:r>
            <a:r>
              <a:rPr lang="en-US" sz="1664"/>
              <a:t> </a:t>
            </a:r>
            <a:r>
              <a:rPr lang="en-US" sz="1664" err="1"/>
              <a:t>tiến</a:t>
            </a:r>
            <a:r>
              <a:rPr lang="en-US" sz="1664"/>
              <a:t> </a:t>
            </a:r>
            <a:r>
              <a:rPr lang="en-US" sz="1664" err="1"/>
              <a:t>trình</a:t>
            </a:r>
            <a:r>
              <a:rPr lang="en-US" sz="1664"/>
              <a:t> in </a:t>
            </a:r>
            <a:r>
              <a:rPr lang="en-US" sz="1664" err="1"/>
              <a:t>theo</a:t>
            </a:r>
            <a:r>
              <a:rPr lang="en-US" sz="1664"/>
              <a:t> </a:t>
            </a:r>
            <a:r>
              <a:rPr lang="en-US" sz="1664" err="1"/>
              <a:t>thời</a:t>
            </a:r>
            <a:r>
              <a:rPr lang="en-US" sz="1664"/>
              <a:t> </a:t>
            </a:r>
            <a:r>
              <a:rPr lang="en-US" sz="1664" err="1"/>
              <a:t>gian</a:t>
            </a:r>
            <a:r>
              <a:rPr lang="en-US" sz="1664"/>
              <a:t> thực</a:t>
            </a:r>
            <a:endParaRPr lang="vi-VN" sz="1664"/>
          </a:p>
          <a:p>
            <a:r>
              <a:rPr lang="vi-VN" sz="1664"/>
              <a:t>Thực hiện tự động hóa 100% bằng 1 click. Không thao tác với máy in tránh tình trạng máy in bị di chuyển ảnh hưởng đến chất lượng sản phẩm</a:t>
            </a:r>
            <a:endParaRPr lang="en-US" sz="1664"/>
          </a:p>
        </p:txBody>
      </p:sp>
      <p:sp>
        <p:nvSpPr>
          <p:cNvPr id="8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697">
                <a:solidFill>
                  <a:schemeClr val="tx1"/>
                </a:solidFill>
              </a:rPr>
              <a:t>Web Interface – </a:t>
            </a:r>
            <a:r>
              <a:rPr lang="en-US" sz="3697" err="1">
                <a:solidFill>
                  <a:schemeClr val="tx1"/>
                </a:solidFill>
              </a:rPr>
              <a:t>Điểm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mạnh</a:t>
            </a:r>
            <a:endParaRPr lang="en-US" sz="3697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21468"/>
            <a:ext cx="3673785" cy="206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5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887807" y="756610"/>
            <a:ext cx="7606404" cy="15731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64"/>
              <a:t>Không truy cập được IP -&gt; kiểm tra kết nối , kiểm tra địa chỉ IP máy tính</a:t>
            </a:r>
          </a:p>
          <a:p>
            <a:r>
              <a:rPr lang="vi-VN" sz="1664"/>
              <a:t>Web UI treo khi in lâu -&gt; xung đột 2 đường mạng(SFIS và máy in)</a:t>
            </a:r>
          </a:p>
          <a:p>
            <a:r>
              <a:rPr lang="vi-VN" sz="1664"/>
              <a:t>Mất mạng nhưng máy vẫn in -&gt; sau khi ấn Print nếu mất kết nối máy in vẫn in bình thường , khi kết nối lại vẫn hiển thị trạng thái hiện tại của máy in</a:t>
            </a:r>
          </a:p>
          <a:p>
            <a:r>
              <a:rPr lang="vi-VN" sz="1664"/>
              <a:t>→ Cần chuẩn hóa thao tác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84491" y="2420018"/>
            <a:ext cx="3445490" cy="35013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algn="l"/>
            <a:r>
              <a:rPr lang="en-US" sz="1344" err="1">
                <a:latin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134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44" err="1">
                <a:latin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 sz="1344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344" err="1">
                <a:latin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134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44" err="1">
                <a:latin typeface="Calibri" panose="020F0502020204030204" pitchFamily="34" charset="0"/>
                <a:cs typeface="Calibri" panose="020F0502020204030204" pitchFamily="34" charset="0"/>
              </a:rPr>
              <a:t>xuất</a:t>
            </a:r>
            <a:endParaRPr lang="en-US" sz="1344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41721" y="2851314"/>
            <a:ext cx="7606404" cy="138644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64"/>
              <a:t>Checklist kiểm tra trước khi Print</a:t>
            </a:r>
          </a:p>
          <a:p>
            <a:r>
              <a:rPr lang="vi-VN" sz="1664"/>
              <a:t>Cảnh báo trước khi in</a:t>
            </a:r>
          </a:p>
          <a:p>
            <a:r>
              <a:rPr lang="vi-VN" sz="1664"/>
              <a:t>Tiền đề quản lý nhiều máy in</a:t>
            </a:r>
          </a:p>
        </p:txBody>
      </p:sp>
      <p:sp>
        <p:nvSpPr>
          <p:cNvPr id="10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697" err="1">
                <a:solidFill>
                  <a:schemeClr val="tx1"/>
                </a:solidFill>
              </a:rPr>
              <a:t>Sự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cố</a:t>
            </a:r>
            <a:r>
              <a:rPr lang="en-US" sz="3697">
                <a:solidFill>
                  <a:schemeClr val="tx1"/>
                </a:solidFill>
              </a:rPr>
              <a:t> &amp; </a:t>
            </a:r>
            <a:r>
              <a:rPr lang="en-US" sz="3697" err="1">
                <a:solidFill>
                  <a:schemeClr val="tx1"/>
                </a:solidFill>
              </a:rPr>
              <a:t>kinh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nghiệm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thực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tế</a:t>
            </a:r>
            <a:endParaRPr lang="en-US" sz="369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07504" y="685800"/>
            <a:ext cx="7606404" cy="15731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200"/>
              <a:t>Xây dựng chương trình kiểm thử mới bằng công cụ MultiTest tại trạm Print 3D</a:t>
            </a:r>
          </a:p>
          <a:p>
            <a:r>
              <a:rPr lang="vi-VN" sz="1200"/>
              <a:t>Viết hàm kiểm thử sử dụng công cụ MultiTest, kịch bản kiểm thử, điều khiển thiết bị kiểm thử tự động </a:t>
            </a:r>
            <a:r>
              <a:rPr lang="vi-VN" sz="1200"/>
              <a:t>tại </a:t>
            </a:r>
            <a:r>
              <a:rPr lang="vi-VN" sz="1200" smtClean="0"/>
              <a:t>trạm Print </a:t>
            </a:r>
            <a:r>
              <a:rPr lang="vi-VN" sz="1200"/>
              <a:t>3D để sử dụng công cụ này thay thế thao tác thủ công. Công cụ MultiTest sẽ được sử dụng cho dự án One.</a:t>
            </a:r>
          </a:p>
        </p:txBody>
      </p:sp>
      <p:sp>
        <p:nvSpPr>
          <p:cNvPr id="10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vi-VN" sz="3200" smtClean="0">
                <a:solidFill>
                  <a:schemeClr val="tx1"/>
                </a:solidFill>
              </a:rPr>
              <a:t>Sử dụng phần mềm MultiTest điều khiển máy in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5125" y="1445584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Input 10 ISN của 10 sản phẩm(1 file in gồm 10 tai nghe)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45285" y="1445584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smtClean="0">
                <a:solidFill>
                  <a:schemeClr val="tx1"/>
                </a:solidFill>
              </a:rPr>
              <a:t>Check SFIS </a:t>
            </a:r>
            <a:r>
              <a:rPr lang="vi-VN" sz="900" smtClean="0">
                <a:solidFill>
                  <a:schemeClr val="tx1"/>
                </a:solidFill>
              </a:rPr>
              <a:t>để lấy 10 mã SNA</a:t>
            </a:r>
            <a:endParaRPr lang="en-US" sz="90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46" y="2604640"/>
            <a:ext cx="3635896" cy="20367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300215" y="1442850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So sánh SNA 7 ký tự của 5 cặp tai nghe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5145" y="1458531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Ghép 5 mã SNA của 5 cặp tai nghe thành tên file .zip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10075" y="1465109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Truy cập server lấy file .zip dựa vào 5 mã SNA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06219" y="1458531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Close mạng lan SFIS để tránh xung đột LAN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5125" y="2021648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Điều khiển máy in thực hiện in file .zip vừa coppy về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45285" y="2021648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>
                <a:solidFill>
                  <a:schemeClr val="tx1"/>
                </a:solidFill>
              </a:rPr>
              <a:t>Chờ in xong máy in phản hồi kết quả : RESULT: SUCCESS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00215" y="2021648"/>
            <a:ext cx="115212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00" smtClean="0">
                <a:solidFill>
                  <a:schemeClr val="tx1"/>
                </a:solidFill>
              </a:rPr>
              <a:t>Phán định kết quả quá trình.</a:t>
            </a:r>
            <a:endParaRPr lang="en-US" sz="90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343" y="2604640"/>
            <a:ext cx="3620823" cy="203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4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87807" y="696106"/>
            <a:ext cx="7606404" cy="75360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endParaRPr lang="en-US" sz="1344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87807" y="756610"/>
            <a:ext cx="7606404" cy="15731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64" smtClean="0"/>
              <a:t>Giải </a:t>
            </a:r>
            <a:r>
              <a:rPr lang="vi-VN" sz="1664"/>
              <a:t>pháp khả thi trong môi trường sản xuất</a:t>
            </a:r>
          </a:p>
          <a:p>
            <a:r>
              <a:rPr lang="vi-VN" sz="1664" smtClean="0"/>
              <a:t>Mang </a:t>
            </a:r>
            <a:r>
              <a:rPr lang="vi-VN" sz="1664"/>
              <a:t>tính ứng dụng cao</a:t>
            </a:r>
          </a:p>
          <a:p>
            <a:r>
              <a:rPr lang="vi-VN" sz="1664" smtClean="0"/>
              <a:t>Có </a:t>
            </a:r>
            <a:r>
              <a:rPr lang="vi-VN" sz="1664"/>
              <a:t>thể mở rộng tự động hóa</a:t>
            </a:r>
          </a:p>
        </p:txBody>
      </p:sp>
      <p:sp>
        <p:nvSpPr>
          <p:cNvPr id="10" name="矩形 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697" err="1">
                <a:solidFill>
                  <a:schemeClr val="tx1"/>
                </a:solidFill>
              </a:rPr>
              <a:t>Kết</a:t>
            </a:r>
            <a:r>
              <a:rPr lang="en-US" sz="3697">
                <a:solidFill>
                  <a:schemeClr val="tx1"/>
                </a:solidFill>
              </a:rPr>
              <a:t> </a:t>
            </a:r>
            <a:r>
              <a:rPr lang="en-US" sz="3697" err="1">
                <a:solidFill>
                  <a:schemeClr val="tx1"/>
                </a:solidFill>
              </a:rPr>
              <a:t>luận</a:t>
            </a:r>
            <a:endParaRPr lang="en-US" sz="3697">
              <a:solidFill>
                <a:schemeClr val="tx1"/>
              </a:solidFill>
            </a:endParaRPr>
          </a:p>
        </p:txBody>
      </p:sp>
      <p:sp>
        <p:nvSpPr>
          <p:cNvPr id="11" name="Text Box 3"/>
          <p:cNvSpPr txBox="1"/>
          <p:nvPr/>
        </p:nvSpPr>
        <p:spPr>
          <a:xfrm>
            <a:off x="1439652" y="3032788"/>
            <a:ext cx="5357457" cy="86825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vi-VN" altLang="en-US" sz="5042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270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 calibri">
      <a:majorFont>
        <a:latin typeface="Times New Roman"/>
        <a:ea typeface="Calibri"/>
        <a:cs typeface=""/>
      </a:majorFont>
      <a:minorFont>
        <a:latin typeface="Calibri"/>
        <a:ea typeface="Calibri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10348</TotalTime>
  <Words>898</Words>
  <Application>Microsoft Office PowerPoint</Application>
  <PresentationFormat>On-screen Show (16:9)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Microsoft JhengHei</vt:lpstr>
      <vt:lpstr>新細明體</vt:lpstr>
      <vt:lpstr>新細明體</vt:lpstr>
      <vt:lpstr>SimSun</vt:lpstr>
      <vt:lpstr>Arial</vt:lpstr>
      <vt:lpstr>Calibri</vt:lpstr>
      <vt:lpstr>Times New Roman</vt:lpstr>
      <vt:lpstr>Wingdings</vt:lpstr>
      <vt:lpstr>JK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Jackie Huang(黃崇敬_Pegatron)</dc:creator>
  <cp:lastModifiedBy>DALE LUONG(LƯƠNG VĂN ĐẠI_PVN)</cp:lastModifiedBy>
  <cp:revision>1396</cp:revision>
  <dcterms:created xsi:type="dcterms:W3CDTF">2014-10-27T07:11:00Z</dcterms:created>
  <dcterms:modified xsi:type="dcterms:W3CDTF">2026-02-25T01:29:59Z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0x010100F759A8BBD7321744896746DA87889895</vt:lpwstr>
  </property>
</Properties>
</file>